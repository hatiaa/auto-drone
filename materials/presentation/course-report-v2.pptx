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5"/>
  </p:notesMasterIdLst>
  <p:sldIdLst>
    <p:sldId id="256" r:id="rId2"/>
    <p:sldId id="268" r:id="rId3"/>
    <p:sldId id="270" r:id="rId4"/>
    <p:sldId id="271" r:id="rId5"/>
    <p:sldId id="274" r:id="rId6"/>
    <p:sldId id="272" r:id="rId7"/>
    <p:sldId id="273" r:id="rId8"/>
    <p:sldId id="275" r:id="rId9"/>
    <p:sldId id="277" r:id="rId10"/>
    <p:sldId id="278" r:id="rId11"/>
    <p:sldId id="279" r:id="rId12"/>
    <p:sldId id="276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874"/>
    <a:srgbClr val="FFFFFF"/>
    <a:srgbClr val="EAE7EC"/>
    <a:srgbClr val="D3CCD6"/>
    <a:srgbClr val="818485"/>
    <a:srgbClr val="9A0000"/>
    <a:srgbClr val="B9B9B9"/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/>
    <p:restoredTop sz="86377"/>
  </p:normalViewPr>
  <p:slideViewPr>
    <p:cSldViewPr snapToGrid="0" snapToObjects="1">
      <p:cViewPr varScale="1">
        <p:scale>
          <a:sx n="83" d="100"/>
          <a:sy n="83" d="100"/>
        </p:scale>
        <p:origin x="621" y="4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8BDE8-1C1A-4B87-B3DE-E1B3F7A3303A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14D1E-FF17-4229-AC6E-424E79A55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49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402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302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40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B3F04-688F-C23E-6C51-E9E1471C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548B10-8CD8-E3DC-5C9B-CDFD38A49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71B8D1-5320-8283-3D8E-F58A74DCD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A2E874-2E56-DC5D-49B6-120A3DF9B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349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1814-B0E0-B5F5-C2A4-9682BBEB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495949-3D69-2667-F262-3FC3006C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191752-264C-CC58-A7DF-AC737B229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8A20C1-24FC-507E-FE0A-EF6289AD6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051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90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10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210A-C680-06C1-CCE7-73C65341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B942BD-02E3-879A-4612-49BC18695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091B41-71C3-25D9-8852-D3C44AB49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1EF3D-787B-234D-F2DE-EC80C9FEA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35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E47E-5019-FCD5-E135-E13B6D7D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E63550-389E-0DCA-3EB8-D6954AC11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64E18F-C7F4-CD53-4200-72B89634A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EF819-61F2-1FCE-F986-1FF2BF36F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205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D567-005A-4666-96CF-A8DF45F6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EEF7BF-2D24-DBFD-143E-851265A5A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88890F-EC1E-D3FB-074F-AFCB5D743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8154CD-DF1E-3204-6725-E8863B4D1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4D1E-FF17-4229-AC6E-424E79A556C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17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8C1FBC-DB92-8D4C-8889-541C754A53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00" y="275794"/>
            <a:ext cx="2519770" cy="992105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98806B-B47C-4F4E-99EE-E81C923B8C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600" y="92600"/>
            <a:ext cx="1015763" cy="10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4B44660-41EC-A14F-B294-9C3C674259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735133-AAF8-B043-8177-73831FB4A0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5B7696-CB4E-1240-9BA7-6A92558524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37" y="92600"/>
            <a:ext cx="1015763" cy="10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2026/6/2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C6A3C0-9B9A-6346-8E2E-CDD5319CED1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72160" y="87749"/>
            <a:ext cx="1015763" cy="101955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/>
              <a:t>四旋翼无人机自主跟随系统</a:t>
            </a:r>
            <a:br>
              <a:rPr lang="en-US" altLang="zh-CN" sz="4000" dirty="0"/>
            </a:br>
            <a:r>
              <a:rPr lang="en-US" altLang="zh-CN" sz="1800" dirty="0"/>
              <a:t>《</a:t>
            </a:r>
            <a:r>
              <a:rPr lang="zh-CN" altLang="en-US" sz="1800" dirty="0"/>
              <a:t>制造工程体验</a:t>
            </a:r>
            <a:r>
              <a:rPr lang="en-US" altLang="zh-CN" sz="1800" dirty="0"/>
              <a:t>》</a:t>
            </a:r>
            <a:r>
              <a:rPr lang="zh-CN" altLang="en-US" sz="1800" dirty="0"/>
              <a:t>课程汇报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378292"/>
            <a:ext cx="10993547" cy="1340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小组成员：</a:t>
            </a:r>
            <a:r>
              <a:rPr lang="zh-CN" altLang="en-US" dirty="0"/>
              <a:t>禹皓元、蒲仁智、</a:t>
            </a:r>
            <a:r>
              <a:rPr lang="zh-CN" altLang="en-US" dirty="0">
                <a:solidFill>
                  <a:srgbClr val="9A0000"/>
                </a:solidFill>
              </a:rPr>
              <a:t>唐晨成、梁清尧</a:t>
            </a:r>
            <a:endParaRPr lang="en-US" altLang="zh-CN" dirty="0">
              <a:solidFill>
                <a:srgbClr val="9A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2026</a:t>
            </a:r>
            <a:r>
              <a:rPr lang="zh-CN" altLang="en-US" dirty="0">
                <a:solidFill>
                  <a:schemeClr val="tx1"/>
                </a:solidFill>
              </a:rPr>
              <a:t>年</a:t>
            </a:r>
            <a:r>
              <a:rPr lang="en-US" altLang="zh-CN" dirty="0">
                <a:solidFill>
                  <a:schemeClr val="tx1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月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6AC2CE-C74E-B4E1-2B6A-3BEC877374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946" y="383943"/>
            <a:ext cx="2577503" cy="72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DAA3-59C0-28DE-F6B7-1D86F6ED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86023BB-BEE7-6EEF-E562-339EE36B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710618"/>
            <a:ext cx="11029615" cy="45291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总体目标：构建四旋翼无人机自主跟随系统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无人机可做到：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定高匀速直线飞行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检测特定 </a:t>
            </a:r>
            <a:r>
              <a:rPr kumimoji="1" lang="en-US" altLang="zh-CN" dirty="0" err="1"/>
              <a:t>ArUco</a:t>
            </a:r>
            <a:r>
              <a:rPr kumimoji="1" lang="en-US" altLang="zh-CN" dirty="0"/>
              <a:t> </a:t>
            </a:r>
            <a:r>
              <a:rPr kumimoji="1" lang="zh-CN" altLang="en-US" dirty="0"/>
              <a:t>标记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跟随标记位置任意移动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自动降落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飞手通过遥控器拨杆启动自动模式，全程待命，可随时切换回手动接管</a:t>
            </a:r>
            <a:endParaRPr kumimoji="1" lang="en-US" altLang="zh-CN" dirty="0"/>
          </a:p>
          <a:p>
            <a:pPr marL="323992" lvl="1" indent="0">
              <a:lnSpc>
                <a:spcPct val="150000"/>
              </a:lnSpc>
              <a:buNone/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99125A-C51E-973F-9DB4-775C29D0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项目目标</a:t>
            </a:r>
          </a:p>
        </p:txBody>
      </p:sp>
    </p:spTree>
    <p:extLst>
      <p:ext uri="{BB962C8B-B14F-4D97-AF65-F5344CB8AC3E}">
        <p14:creationId xmlns:p14="http://schemas.microsoft.com/office/powerpoint/2010/main" val="348604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6650-A04D-73A2-0F9A-F10B73CD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7339DB4-2807-64D4-A934-A73DDC5036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788816"/>
              </p:ext>
            </p:extLst>
          </p:nvPr>
        </p:nvGraphicFramePr>
        <p:xfrm>
          <a:off x="483259" y="1748287"/>
          <a:ext cx="11409692" cy="435346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3508">
                  <a:extLst>
                    <a:ext uri="{9D8B030D-6E8A-4147-A177-3AD203B41FA5}">
                      <a16:colId xmlns:a16="http://schemas.microsoft.com/office/drawing/2014/main" val="3078704216"/>
                    </a:ext>
                  </a:extLst>
                </a:gridCol>
                <a:gridCol w="9976184">
                  <a:extLst>
                    <a:ext uri="{9D8B030D-6E8A-4147-A177-3AD203B41FA5}">
                      <a16:colId xmlns:a16="http://schemas.microsoft.com/office/drawing/2014/main" val="3160110125"/>
                    </a:ext>
                  </a:extLst>
                </a:gridCol>
              </a:tblGrid>
              <a:tr h="1451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zh-CN" altLang="en-US" sz="2000" b="1" dirty="0">
                          <a:solidFill>
                            <a:schemeClr val="bg1"/>
                          </a:solidFill>
                        </a:rPr>
                        <a:t>感知层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08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zh-CN" sz="1600" b="0" dirty="0"/>
                        <a:t>USB </a:t>
                      </a:r>
                      <a:r>
                        <a:rPr kumimoji="1" lang="zh-CN" altLang="en-US" sz="1600" b="0" dirty="0"/>
                        <a:t>相机识别 </a:t>
                      </a:r>
                      <a:r>
                        <a:rPr kumimoji="1" lang="en-US" altLang="zh-CN" sz="1600" b="0" dirty="0" err="1"/>
                        <a:t>ArUco</a:t>
                      </a:r>
                      <a:r>
                        <a:rPr kumimoji="1" lang="en-US" altLang="zh-CN" sz="1600" b="0" dirty="0"/>
                        <a:t> </a:t>
                      </a:r>
                      <a:r>
                        <a:rPr kumimoji="1" lang="zh-CN" altLang="en-US" sz="1600" b="0" dirty="0"/>
                        <a:t>标记；</a:t>
                      </a:r>
                      <a:r>
                        <a:rPr kumimoji="1" lang="en-US" altLang="zh-CN" sz="1600" b="0" dirty="0" err="1"/>
                        <a:t>TFmini</a:t>
                      </a:r>
                      <a:r>
                        <a:rPr kumimoji="1" lang="en-US" altLang="zh-CN" sz="1600" b="0" dirty="0"/>
                        <a:t> </a:t>
                      </a:r>
                      <a:r>
                        <a:rPr kumimoji="1" lang="zh-CN" altLang="en-US" sz="1600" b="0" dirty="0"/>
                        <a:t>向下测距；</a:t>
                      </a:r>
                      <a:endParaRPr kumimoji="1" lang="en-US" altLang="zh-CN" sz="1600" b="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zh-CN" altLang="en-US" sz="1600" b="0" dirty="0"/>
                        <a:t>光流模块估计水平运动。传感器分别提供目标位姿、高度和横向速度信息。</a:t>
                      </a:r>
                      <a:endParaRPr kumimoji="1" lang="en-US" altLang="zh-CN" sz="16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844268"/>
                  </a:ext>
                </a:extLst>
              </a:tr>
              <a:tr h="1451154"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dirty="0">
                          <a:solidFill>
                            <a:schemeClr val="bg1"/>
                          </a:solidFill>
                        </a:rPr>
                        <a:t>计算层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08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dirty="0"/>
                        <a:t>Jetson Nano </a:t>
                      </a:r>
                      <a:r>
                        <a:rPr kumimoji="1" lang="zh-CN" altLang="en-US" sz="1600" b="0" dirty="0"/>
                        <a:t>运行 </a:t>
                      </a:r>
                      <a:r>
                        <a:rPr kumimoji="1" lang="en-US" altLang="zh-CN" sz="1600" b="0" dirty="0"/>
                        <a:t>OpenCV</a:t>
                      </a:r>
                      <a:r>
                        <a:rPr kumimoji="1" lang="zh-CN" altLang="en-US" sz="1600" b="0" dirty="0"/>
                        <a:t>、任务状态机和 </a:t>
                      </a:r>
                      <a:r>
                        <a:rPr kumimoji="1" lang="en-US" altLang="zh-CN" sz="1600" b="0" dirty="0" err="1"/>
                        <a:t>MAVLink</a:t>
                      </a:r>
                      <a:r>
                        <a:rPr kumimoji="1" lang="en-US" altLang="zh-CN" sz="1600" b="0" dirty="0"/>
                        <a:t> </a:t>
                      </a:r>
                      <a:r>
                        <a:rPr kumimoji="1" lang="zh-CN" altLang="en-US" sz="1600" b="0" dirty="0"/>
                        <a:t>通信程序，</a:t>
                      </a:r>
                      <a:endParaRPr kumimoji="1" lang="en-US" altLang="zh-CN" sz="1600" b="0" dirty="0"/>
                    </a:p>
                    <a:p>
                      <a:pPr marL="0" marR="0" lvl="0" indent="0" algn="ctr" defTabSz="457189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0" dirty="0"/>
                        <a:t>对视觉结果进行滤波、坐标转换，并生成速度</a:t>
                      </a:r>
                      <a:r>
                        <a:rPr kumimoji="1" lang="en-US" altLang="zh-CN" sz="1600" b="0" dirty="0"/>
                        <a:t>/</a:t>
                      </a:r>
                      <a:r>
                        <a:rPr kumimoji="1" lang="zh-CN" altLang="en-US" sz="1600" b="0" dirty="0"/>
                        <a:t>位置目标。</a:t>
                      </a:r>
                      <a:endParaRPr kumimoji="1" lang="en-US" altLang="zh-CN" sz="16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122900"/>
                  </a:ext>
                </a:extLst>
              </a:tr>
              <a:tr h="1451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zh-CN" altLang="en-US" sz="2000" b="1" dirty="0">
                          <a:solidFill>
                            <a:schemeClr val="bg1"/>
                          </a:solidFill>
                        </a:rPr>
                        <a:t>控制层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08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dirty="0"/>
                        <a:t>Pixhawk 2.4.8 </a:t>
                      </a:r>
                      <a:r>
                        <a:rPr kumimoji="1" lang="zh-CN" altLang="en-US" sz="1600" b="0" dirty="0"/>
                        <a:t>搭载 </a:t>
                      </a:r>
                      <a:r>
                        <a:rPr kumimoji="1" lang="en-US" altLang="zh-CN" sz="1600" b="0" dirty="0" err="1"/>
                        <a:t>ArduPilot</a:t>
                      </a:r>
                      <a:r>
                        <a:rPr kumimoji="1" lang="zh-CN" altLang="en-US" sz="1600" b="0" dirty="0"/>
                        <a:t>，</a:t>
                      </a:r>
                      <a:endParaRPr kumimoji="1" lang="en-US" altLang="zh-CN" sz="1600" b="0" dirty="0"/>
                    </a:p>
                    <a:p>
                      <a:pPr marL="0" marR="0" lvl="0" indent="0" algn="ctr" defTabSz="457189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0" dirty="0"/>
                        <a:t>负责姿态估计、传感器融合、电机混控、安全保护和低层闭环控制。</a:t>
                      </a:r>
                      <a:endParaRPr kumimoji="1" lang="en-US" altLang="zh-CN" sz="16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73619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9F7BDCED-70FC-23AC-2165-E4D2A4AD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硬件与软件架构</a:t>
            </a:r>
          </a:p>
        </p:txBody>
      </p:sp>
    </p:spTree>
    <p:extLst>
      <p:ext uri="{BB962C8B-B14F-4D97-AF65-F5344CB8AC3E}">
        <p14:creationId xmlns:p14="http://schemas.microsoft.com/office/powerpoint/2010/main" val="320606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FCBE-E6BD-6FB1-2EBB-201A189D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3E2976C-0464-F769-EA12-B6532FA96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硬件与软件架构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BA38C49B-9E66-1765-80E2-25C85F06F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834938"/>
              </p:ext>
            </p:extLst>
          </p:nvPr>
        </p:nvGraphicFramePr>
        <p:xfrm>
          <a:off x="601064" y="1629133"/>
          <a:ext cx="10989872" cy="456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383">
                  <a:extLst>
                    <a:ext uri="{9D8B030D-6E8A-4147-A177-3AD203B41FA5}">
                      <a16:colId xmlns:a16="http://schemas.microsoft.com/office/drawing/2014/main" val="2409748173"/>
                    </a:ext>
                  </a:extLst>
                </a:gridCol>
                <a:gridCol w="3007743">
                  <a:extLst>
                    <a:ext uri="{9D8B030D-6E8A-4147-A177-3AD203B41FA5}">
                      <a16:colId xmlns:a16="http://schemas.microsoft.com/office/drawing/2014/main" val="2975395261"/>
                    </a:ext>
                  </a:extLst>
                </a:gridCol>
                <a:gridCol w="3331278">
                  <a:extLst>
                    <a:ext uri="{9D8B030D-6E8A-4147-A177-3AD203B41FA5}">
                      <a16:colId xmlns:a16="http://schemas.microsoft.com/office/drawing/2014/main" val="902512852"/>
                    </a:ext>
                  </a:extLst>
                </a:gridCol>
                <a:gridCol w="2747468">
                  <a:extLst>
                    <a:ext uri="{9D8B030D-6E8A-4147-A177-3AD203B41FA5}">
                      <a16:colId xmlns:a16="http://schemas.microsoft.com/office/drawing/2014/main" val="3812819377"/>
                    </a:ext>
                  </a:extLst>
                </a:gridCol>
              </a:tblGrid>
              <a:tr h="9139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2000" b="1" cap="all" dirty="0">
                          <a:solidFill>
                            <a:schemeClr val="bg1"/>
                          </a:solidFill>
                          <a:effectLst/>
                          <a:latin typeface="SF Mono"/>
                        </a:rPr>
                        <a:t>模块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2000" b="1" cap="all" dirty="0">
                          <a:solidFill>
                            <a:schemeClr val="bg1"/>
                          </a:solidFill>
                          <a:effectLst/>
                          <a:latin typeface="SF Mono"/>
                        </a:rPr>
                        <a:t>功能定位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2000" b="1" cap="all" dirty="0">
                          <a:solidFill>
                            <a:schemeClr val="bg1"/>
                          </a:solidFill>
                          <a:effectLst/>
                          <a:latin typeface="SF Mono"/>
                        </a:rPr>
                        <a:t>关键数据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2000" b="1" cap="all" dirty="0">
                          <a:solidFill>
                            <a:schemeClr val="bg1"/>
                          </a:solidFill>
                          <a:effectLst/>
                          <a:latin typeface="SF Mono"/>
                        </a:rPr>
                        <a:t>汇报展示效果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2987904253"/>
                  </a:ext>
                </a:extLst>
              </a:tr>
              <a:tr h="9139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b="1" dirty="0">
                          <a:solidFill>
                            <a:srgbClr val="17211D"/>
                          </a:solidFill>
                          <a:effectLst/>
                        </a:rPr>
                        <a:t>Jetson Nano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机载计算与任务决策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相机图像、标记位姿、飞控遥测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能够与飞控通信并发送电机</a:t>
                      </a:r>
                      <a:r>
                        <a:rPr lang="en-US" altLang="zh-CN" sz="1600" dirty="0">
                          <a:effectLst/>
                        </a:rPr>
                        <a:t>/</a:t>
                      </a:r>
                      <a:r>
                        <a:rPr lang="zh-CN" altLang="en-US" sz="1600" dirty="0">
                          <a:effectLst/>
                        </a:rPr>
                        <a:t>控制相关 </a:t>
                      </a:r>
                      <a:r>
                        <a:rPr lang="en-US" altLang="zh-CN" sz="1600" dirty="0" err="1">
                          <a:effectLst/>
                        </a:rPr>
                        <a:t>MAVLink</a:t>
                      </a:r>
                      <a:r>
                        <a:rPr lang="en-US" altLang="zh-CN" sz="1600" dirty="0">
                          <a:effectLst/>
                        </a:rPr>
                        <a:t> </a:t>
                      </a:r>
                      <a:r>
                        <a:rPr lang="zh-CN" altLang="en-US" sz="1600" dirty="0">
                          <a:effectLst/>
                        </a:rPr>
                        <a:t>指令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784457551"/>
                  </a:ext>
                </a:extLst>
              </a:tr>
              <a:tr h="9139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b="1" dirty="0">
                          <a:solidFill>
                            <a:srgbClr val="17211D"/>
                          </a:solidFill>
                          <a:effectLst/>
                        </a:rPr>
                        <a:t>Pixhawk 2.4.8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姿态控制、电机输出、安全保护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飞行模式、姿态、电池、电机输出、距离传感器数据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接收 </a:t>
                      </a:r>
                      <a:r>
                        <a:rPr lang="en-US" altLang="zh-CN" sz="1600">
                          <a:effectLst/>
                        </a:rPr>
                        <a:t>Nano </a:t>
                      </a:r>
                      <a:r>
                        <a:rPr lang="zh-CN" altLang="en-US" sz="1600">
                          <a:effectLst/>
                        </a:rPr>
                        <a:t>指令后完成底层执行，形成闭环控制链路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314939045"/>
                  </a:ext>
                </a:extLst>
              </a:tr>
              <a:tr h="9139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b="1" dirty="0" err="1">
                          <a:solidFill>
                            <a:srgbClr val="17211D"/>
                          </a:solidFill>
                          <a:effectLst/>
                        </a:rPr>
                        <a:t>ArUco</a:t>
                      </a:r>
                      <a:r>
                        <a:rPr lang="en-US" b="1" dirty="0">
                          <a:solidFill>
                            <a:srgbClr val="17211D"/>
                          </a:solidFill>
                          <a:effectLst/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17211D"/>
                          </a:solidFill>
                          <a:effectLst/>
                        </a:rPr>
                        <a:t>标记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视觉锚点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标记 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、角点坐标、三维平移向量、旋转向量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画面中实时框选标记，并输出相对位姿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896555873"/>
                  </a:ext>
                </a:extLst>
              </a:tr>
              <a:tr h="9139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b="1" dirty="0" err="1">
                          <a:solidFill>
                            <a:srgbClr val="17211D"/>
                          </a:solidFill>
                          <a:effectLst/>
                        </a:rPr>
                        <a:t>TFmini</a:t>
                      </a:r>
                      <a:r>
                        <a:rPr lang="en-US" b="1" dirty="0">
                          <a:solidFill>
                            <a:srgbClr val="17211D"/>
                          </a:solidFill>
                          <a:effectLst/>
                        </a:rPr>
                        <a:t> + </a:t>
                      </a:r>
                      <a:r>
                        <a:rPr lang="zh-CN" altLang="en-US" b="1" dirty="0">
                          <a:solidFill>
                            <a:srgbClr val="17211D"/>
                          </a:solidFill>
                          <a:effectLst/>
                        </a:rPr>
                        <a:t>光流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室内低空定位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离地高度、水平相对运动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支撑无 </a:t>
                      </a:r>
                      <a:r>
                        <a:rPr lang="en-US" altLang="zh-CN" sz="1600" dirty="0">
                          <a:effectLst/>
                        </a:rPr>
                        <a:t>GPS </a:t>
                      </a:r>
                      <a:r>
                        <a:rPr lang="zh-CN" altLang="en-US" sz="1600" dirty="0">
                          <a:effectLst/>
                        </a:rPr>
                        <a:t>环境下的定高、定点和低速通过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182025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35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F59C-109A-9B1A-7A89-6E7AD8BA8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26E5D08-5A50-68B6-57C2-A48456F9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硬件与软件架构</a:t>
            </a:r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F8101ED1-CBD7-4525-E626-C1E0174D8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849" y="1196196"/>
            <a:ext cx="10984301" cy="549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2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9FB3-FDD6-C5D3-E133-6FA7E950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F07A3D-92BA-14B4-9699-880F492E5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566845"/>
            <a:ext cx="11029615" cy="299450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kumimoji="1" lang="zh-CN" altLang="en-US" dirty="0"/>
              <a:t>识别流程：</a:t>
            </a:r>
            <a:endParaRPr kumimoji="1" lang="en-US" altLang="zh-CN" dirty="0"/>
          </a:p>
          <a:p>
            <a:pPr>
              <a:lnSpc>
                <a:spcPct val="160000"/>
              </a:lnSpc>
            </a:pPr>
            <a:r>
              <a:rPr kumimoji="1" lang="zh-CN" altLang="en-US" dirty="0"/>
              <a:t>每一帧图像先进行 </a:t>
            </a:r>
            <a:r>
              <a:rPr kumimoji="1" lang="en-US" altLang="zh-CN" dirty="0" err="1"/>
              <a:t>ArUco</a:t>
            </a:r>
            <a:r>
              <a:rPr kumimoji="1" lang="en-US" altLang="zh-CN" dirty="0"/>
              <a:t> </a:t>
            </a:r>
            <a:r>
              <a:rPr kumimoji="1" lang="zh-CN" altLang="en-US" dirty="0"/>
              <a:t>检测，得到标记角点与 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；随后使用相机内参和标记真实边长进行 </a:t>
            </a:r>
            <a:r>
              <a:rPr kumimoji="1" lang="en-US" altLang="zh-CN" dirty="0"/>
              <a:t>PnP </a:t>
            </a:r>
            <a:r>
              <a:rPr kumimoji="1" lang="zh-CN" altLang="en-US" dirty="0"/>
              <a:t>位姿估计，输出相机坐标系下的</a:t>
            </a:r>
            <a:r>
              <a:rPr kumimoji="1" lang="zh-CN" altLang="en-US" dirty="0">
                <a:latin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</a:rPr>
              <a:t>rvec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/>
              <a:t>和 </a:t>
            </a:r>
            <a:r>
              <a:rPr kumimoji="1" lang="en-US" altLang="zh-CN" dirty="0" err="1">
                <a:latin typeface="Consolas" panose="020B0609020204030204" pitchFamily="49" charset="0"/>
              </a:rPr>
              <a:t>tvec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>
              <a:lnSpc>
                <a:spcPct val="160000"/>
              </a:lnSpc>
            </a:pPr>
            <a:r>
              <a:rPr lang="zh-CN" altLang="en-US" dirty="0"/>
              <a:t>坐标变换：</a:t>
            </a:r>
          </a:p>
          <a:p>
            <a:pPr>
              <a:lnSpc>
                <a:spcPct val="160000"/>
              </a:lnSpc>
            </a:pPr>
            <a:r>
              <a:rPr lang="en-US" altLang="zh-CN" dirty="0"/>
              <a:t>OpenCV </a:t>
            </a:r>
            <a:r>
              <a:rPr lang="zh-CN" altLang="en-US" dirty="0"/>
              <a:t>相机坐标系为 </a:t>
            </a:r>
            <a:r>
              <a:rPr lang="en-US" altLang="zh-CN" dirty="0"/>
              <a:t>x </a:t>
            </a:r>
            <a:r>
              <a:rPr lang="zh-CN" altLang="en-US" dirty="0"/>
              <a:t>向右、</a:t>
            </a:r>
            <a:r>
              <a:rPr lang="en-US" altLang="zh-CN" dirty="0"/>
              <a:t>y </a:t>
            </a:r>
            <a:r>
              <a:rPr lang="zh-CN" altLang="en-US" dirty="0"/>
              <a:t>向下、</a:t>
            </a:r>
            <a:r>
              <a:rPr lang="en-US" altLang="zh-CN" dirty="0"/>
              <a:t>z </a:t>
            </a:r>
            <a:r>
              <a:rPr lang="zh-CN" altLang="en-US" dirty="0"/>
              <a:t>向前；飞控机体系通常使用 </a:t>
            </a:r>
            <a:r>
              <a:rPr lang="en-US" altLang="zh-CN" dirty="0"/>
              <a:t>FRD </a:t>
            </a:r>
            <a:r>
              <a:rPr lang="zh-CN" altLang="en-US" dirty="0"/>
              <a:t>坐标，</a:t>
            </a:r>
            <a:r>
              <a:rPr lang="en-US" altLang="zh-CN" dirty="0"/>
              <a:t>x </a:t>
            </a:r>
            <a:r>
              <a:rPr lang="zh-CN" altLang="en-US" dirty="0"/>
              <a:t>向前、</a:t>
            </a:r>
            <a:r>
              <a:rPr lang="en-US" altLang="zh-CN" dirty="0"/>
              <a:t>y </a:t>
            </a:r>
            <a:r>
              <a:rPr lang="zh-CN" altLang="en-US" dirty="0"/>
              <a:t>向右、</a:t>
            </a:r>
            <a:r>
              <a:rPr lang="en-US" altLang="zh-CN" dirty="0"/>
              <a:t>z </a:t>
            </a:r>
            <a:r>
              <a:rPr lang="zh-CN" altLang="en-US" dirty="0"/>
              <a:t>向下。因此视觉结果需要先完成相机到机体坐标变换，再用于飞行控制。</a:t>
            </a:r>
          </a:p>
          <a:p>
            <a:pPr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79A15E6-4B54-2746-57BB-5FBB11DC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 err="1"/>
              <a:t>ArUco</a:t>
            </a:r>
            <a:r>
              <a:rPr kumimoji="1" lang="en-US" altLang="zh-CN" sz="3200" dirty="0"/>
              <a:t> </a:t>
            </a:r>
            <a:r>
              <a:rPr kumimoji="1" lang="zh-CN" altLang="en-US" sz="3200" dirty="0"/>
              <a:t>标记位姿估计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6D5A50-8181-4239-7A8D-B9F2E5730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618506"/>
              </p:ext>
            </p:extLst>
          </p:nvPr>
        </p:nvGraphicFramePr>
        <p:xfrm>
          <a:off x="434217" y="4624612"/>
          <a:ext cx="11323565" cy="1752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713">
                  <a:extLst>
                    <a:ext uri="{9D8B030D-6E8A-4147-A177-3AD203B41FA5}">
                      <a16:colId xmlns:a16="http://schemas.microsoft.com/office/drawing/2014/main" val="599101153"/>
                    </a:ext>
                  </a:extLst>
                </a:gridCol>
                <a:gridCol w="2264713">
                  <a:extLst>
                    <a:ext uri="{9D8B030D-6E8A-4147-A177-3AD203B41FA5}">
                      <a16:colId xmlns:a16="http://schemas.microsoft.com/office/drawing/2014/main" val="3143056614"/>
                    </a:ext>
                  </a:extLst>
                </a:gridCol>
                <a:gridCol w="2264713">
                  <a:extLst>
                    <a:ext uri="{9D8B030D-6E8A-4147-A177-3AD203B41FA5}">
                      <a16:colId xmlns:a16="http://schemas.microsoft.com/office/drawing/2014/main" val="3751153487"/>
                    </a:ext>
                  </a:extLst>
                </a:gridCol>
                <a:gridCol w="2264713">
                  <a:extLst>
                    <a:ext uri="{9D8B030D-6E8A-4147-A177-3AD203B41FA5}">
                      <a16:colId xmlns:a16="http://schemas.microsoft.com/office/drawing/2014/main" val="3643828605"/>
                    </a:ext>
                  </a:extLst>
                </a:gridCol>
                <a:gridCol w="2264713">
                  <a:extLst>
                    <a:ext uri="{9D8B030D-6E8A-4147-A177-3AD203B41FA5}">
                      <a16:colId xmlns:a16="http://schemas.microsoft.com/office/drawing/2014/main" val="2945205526"/>
                    </a:ext>
                  </a:extLst>
                </a:gridCol>
              </a:tblGrid>
              <a:tr h="17520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图像采集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C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USB 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相机采集画面，</a:t>
                      </a:r>
                      <a:b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帧率满足实时控制需求</a:t>
                      </a:r>
                    </a:p>
                  </a:txBody>
                  <a:tcPr>
                    <a:solidFill>
                      <a:srgbClr val="D3CC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标记检测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C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识别 </a:t>
                      </a:r>
                      <a:r>
                        <a:rPr lang="en-US" altLang="zh-CN" sz="16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ArUco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与角点，过滤无效或过小标记</a:t>
                      </a:r>
                    </a:p>
                  </a:txBody>
                  <a:tcPr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位姿估计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C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基于相机内参和实际尺寸恢复 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位置</a:t>
                      </a:r>
                    </a:p>
                  </a:txBody>
                  <a:tcPr>
                    <a:solidFill>
                      <a:srgbClr val="D3CC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坐标转换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C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将相机坐标转换为无人机机体坐标</a:t>
                      </a:r>
                    </a:p>
                  </a:txBody>
                  <a:tcPr>
                    <a:solidFill>
                      <a:srgbClr val="EAE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控制输入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C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将横向误差、距离和偏航误差送入状态机</a:t>
                      </a:r>
                    </a:p>
                  </a:txBody>
                  <a:tcPr>
                    <a:solidFill>
                      <a:srgbClr val="D3CC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019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2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2A6E-4872-9E58-D3C2-05EE0255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42A24FB-9984-38BE-02E1-D3D4128D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飞控通信与动力链路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815E523B-017F-404C-5D80-04CAEACDD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458516"/>
              </p:ext>
            </p:extLst>
          </p:nvPr>
        </p:nvGraphicFramePr>
        <p:xfrm>
          <a:off x="581025" y="1663642"/>
          <a:ext cx="11029950" cy="302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01">
                  <a:extLst>
                    <a:ext uri="{9D8B030D-6E8A-4147-A177-3AD203B41FA5}">
                      <a16:colId xmlns:a16="http://schemas.microsoft.com/office/drawing/2014/main" val="3177114738"/>
                    </a:ext>
                  </a:extLst>
                </a:gridCol>
                <a:gridCol w="8401949">
                  <a:extLst>
                    <a:ext uri="{9D8B030D-6E8A-4147-A177-3AD203B41FA5}">
                      <a16:colId xmlns:a16="http://schemas.microsoft.com/office/drawing/2014/main" val="2762260384"/>
                    </a:ext>
                  </a:extLst>
                </a:gridCol>
              </a:tblGrid>
              <a:tr h="6058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链路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348535"/>
                  </a:ext>
                </a:extLst>
              </a:tr>
              <a:tr h="60582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b="1" dirty="0">
                          <a:solidFill>
                            <a:srgbClr val="17211D"/>
                          </a:solidFill>
                          <a:effectLst/>
                        </a:rPr>
                        <a:t>Nano UART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与 </a:t>
                      </a:r>
                      <a:r>
                        <a:rPr lang="en-US" dirty="0">
                          <a:effectLst/>
                        </a:rPr>
                        <a:t>Pixhawk TELEM2 </a:t>
                      </a:r>
                      <a:r>
                        <a:rPr lang="zh-CN" altLang="en-US" dirty="0">
                          <a:effectLst/>
                        </a:rPr>
                        <a:t>交叉连接 </a:t>
                      </a:r>
                      <a:r>
                        <a:rPr lang="en-US" dirty="0">
                          <a:effectLst/>
                        </a:rPr>
                        <a:t>TX/RX</a:t>
                      </a:r>
                      <a:r>
                        <a:rPr lang="zh-CN" altLang="en-US" dirty="0">
                          <a:effectLst/>
                        </a:rPr>
                        <a:t>，并共地。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2503190921"/>
                  </a:ext>
                </a:extLst>
              </a:tr>
              <a:tr h="60582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b="1" dirty="0">
                          <a:solidFill>
                            <a:srgbClr val="17211D"/>
                          </a:solidFill>
                          <a:effectLst/>
                        </a:rPr>
                        <a:t>通信协议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dirty="0">
                          <a:effectLst/>
                        </a:rPr>
                        <a:t>MAVLink2</a:t>
                      </a:r>
                      <a:r>
                        <a:rPr lang="zh-CN" altLang="en-US" dirty="0">
                          <a:effectLst/>
                        </a:rPr>
                        <a:t>，波特</a:t>
                      </a:r>
                      <a:r>
                        <a:rPr lang="zh-CN" altLang="en-US" dirty="0">
                          <a:effectLst/>
                          <a:latin typeface="+mn-lt"/>
                        </a:rPr>
                        <a:t>率 </a:t>
                      </a:r>
                      <a:r>
                        <a:rPr lang="en-US" altLang="zh-CN" dirty="0">
                          <a:effectLst/>
                          <a:latin typeface="+mn-lt"/>
                        </a:rPr>
                        <a:t>921600</a:t>
                      </a:r>
                      <a:r>
                        <a:rPr lang="zh-CN" altLang="en-US" dirty="0">
                          <a:effectLst/>
                        </a:rPr>
                        <a:t>，用于遥测读取与高层控制指令。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348904229"/>
                  </a:ext>
                </a:extLst>
              </a:tr>
              <a:tr h="60582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b="1">
                          <a:solidFill>
                            <a:srgbClr val="17211D"/>
                          </a:solidFill>
                          <a:effectLst/>
                        </a:rPr>
                        <a:t>飞控固件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dirty="0" err="1">
                          <a:effectLst/>
                        </a:rPr>
                        <a:t>ArduPilot</a:t>
                      </a:r>
                      <a:r>
                        <a:rPr lang="zh-CN" altLang="en-US" dirty="0">
                          <a:effectLst/>
                        </a:rPr>
                        <a:t>，负责姿态估计、传感器融合、电机混控与 </a:t>
                      </a:r>
                      <a:r>
                        <a:rPr lang="en-US" altLang="zh-CN" dirty="0">
                          <a:effectLst/>
                        </a:rPr>
                        <a:t>failsafe</a:t>
                      </a:r>
                      <a:r>
                        <a:rPr lang="zh-CN" altLang="en-US" dirty="0">
                          <a:effectLst/>
                        </a:rPr>
                        <a:t>。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457068660"/>
                  </a:ext>
                </a:extLst>
              </a:tr>
              <a:tr h="60582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b="1" dirty="0">
                          <a:solidFill>
                            <a:srgbClr val="17211D"/>
                          </a:solidFill>
                          <a:effectLst/>
                        </a:rPr>
                        <a:t>动力输出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dirty="0">
                          <a:effectLst/>
                        </a:rPr>
                        <a:t>Pixhawk MAIN OUT </a:t>
                      </a:r>
                      <a:r>
                        <a:rPr lang="zh-CN" altLang="en-US" dirty="0">
                          <a:effectLst/>
                        </a:rPr>
                        <a:t>输出到电调，电调驱动四个电机。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15420978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3444EEF-F236-282D-77A7-7DA975DD139E}"/>
              </a:ext>
            </a:extLst>
          </p:cNvPr>
          <p:cNvSpPr txBox="1"/>
          <p:nvPr/>
        </p:nvSpPr>
        <p:spPr>
          <a:xfrm>
            <a:off x="581025" y="4862401"/>
            <a:ext cx="11029950" cy="1405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zh-CN" altLang="en-US" b="1" i="0" dirty="0">
                <a:solidFill>
                  <a:srgbClr val="17211D"/>
                </a:solidFill>
                <a:effectLst/>
              </a:rPr>
              <a:t>验证方法：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None/>
            </a:pPr>
            <a:r>
              <a:rPr lang="zh-CN" altLang="en-US" b="0" i="0" dirty="0">
                <a:solidFill>
                  <a:srgbClr val="56635C"/>
                </a:solidFill>
                <a:effectLst/>
              </a:rPr>
              <a:t>通过 </a:t>
            </a:r>
            <a:r>
              <a:rPr lang="en-US" altLang="zh-CN" b="0" i="0" dirty="0" err="1">
                <a:solidFill>
                  <a:srgbClr val="56635C"/>
                </a:solidFill>
                <a:effectLst/>
              </a:rPr>
              <a:t>MAVLink</a:t>
            </a:r>
            <a:r>
              <a:rPr lang="en-US" altLang="zh-CN" b="0" i="0" dirty="0">
                <a:solidFill>
                  <a:srgbClr val="56635C"/>
                </a:solidFill>
                <a:effectLst/>
              </a:rPr>
              <a:t> </a:t>
            </a:r>
            <a:r>
              <a:rPr lang="zh-CN" altLang="en-US" b="0" i="0" dirty="0">
                <a:solidFill>
                  <a:srgbClr val="56635C"/>
                </a:solidFill>
                <a:effectLst/>
              </a:rPr>
              <a:t>心跳包确认 </a:t>
            </a:r>
            <a:r>
              <a:rPr lang="en-US" altLang="zh-CN" b="0" i="0" dirty="0">
                <a:solidFill>
                  <a:srgbClr val="56635C"/>
                </a:solidFill>
                <a:effectLst/>
              </a:rPr>
              <a:t>Nano </a:t>
            </a:r>
            <a:r>
              <a:rPr lang="zh-CN" altLang="en-US" b="0" i="0" dirty="0">
                <a:solidFill>
                  <a:srgbClr val="56635C"/>
                </a:solidFill>
                <a:effectLst/>
              </a:rPr>
              <a:t>与 </a:t>
            </a:r>
            <a:r>
              <a:rPr lang="en-US" altLang="zh-CN" b="0" i="0" dirty="0">
                <a:solidFill>
                  <a:srgbClr val="56635C"/>
                </a:solidFill>
                <a:effectLst/>
              </a:rPr>
              <a:t>Pixhawk </a:t>
            </a:r>
            <a:r>
              <a:rPr lang="zh-CN" altLang="en-US" b="0" i="0" dirty="0">
                <a:solidFill>
                  <a:srgbClr val="56635C"/>
                </a:solidFill>
                <a:effectLst/>
              </a:rPr>
              <a:t>连接，通过遥测读取飞行模式、电池和姿态；</a:t>
            </a:r>
            <a:br>
              <a:rPr lang="en-US" altLang="zh-CN" b="0" i="0" dirty="0">
                <a:solidFill>
                  <a:srgbClr val="56635C"/>
                </a:solidFill>
                <a:effectLst/>
              </a:rPr>
            </a:br>
            <a:r>
              <a:rPr lang="zh-CN" altLang="en-US" b="0" i="0" dirty="0">
                <a:solidFill>
                  <a:srgbClr val="56635C"/>
                </a:solidFill>
                <a:effectLst/>
              </a:rPr>
              <a:t>随后使用 </a:t>
            </a:r>
            <a:r>
              <a:rPr lang="en-US" altLang="zh-CN" b="0" i="0" dirty="0" err="1">
                <a:solidFill>
                  <a:srgbClr val="56635C"/>
                </a:solidFill>
                <a:effectLst/>
              </a:rPr>
              <a:t>ArduPilot</a:t>
            </a:r>
            <a:r>
              <a:rPr lang="en-US" altLang="zh-CN" b="0" i="0" dirty="0">
                <a:solidFill>
                  <a:srgbClr val="56635C"/>
                </a:solidFill>
                <a:effectLst/>
              </a:rPr>
              <a:t> </a:t>
            </a:r>
            <a:r>
              <a:rPr lang="zh-CN" altLang="en-US" b="0" i="0" dirty="0">
                <a:solidFill>
                  <a:srgbClr val="56635C"/>
                </a:solidFill>
                <a:effectLst/>
              </a:rPr>
              <a:t>的电机测试命令验证从 </a:t>
            </a:r>
            <a:r>
              <a:rPr lang="en-US" altLang="zh-CN" b="0" i="0" dirty="0">
                <a:solidFill>
                  <a:srgbClr val="56635C"/>
                </a:solidFill>
                <a:effectLst/>
              </a:rPr>
              <a:t>Nano </a:t>
            </a:r>
            <a:r>
              <a:rPr lang="zh-CN" altLang="en-US" b="0" i="0" dirty="0">
                <a:solidFill>
                  <a:srgbClr val="56635C"/>
                </a:solidFill>
                <a:effectLst/>
              </a:rPr>
              <a:t>到 </a:t>
            </a:r>
            <a:r>
              <a:rPr lang="en-US" altLang="zh-CN" b="0" i="0" dirty="0">
                <a:solidFill>
                  <a:srgbClr val="56635C"/>
                </a:solidFill>
                <a:effectLst/>
              </a:rPr>
              <a:t>Pixhawk</a:t>
            </a:r>
            <a:r>
              <a:rPr lang="zh-CN" altLang="en-US" b="0" i="0" dirty="0">
                <a:solidFill>
                  <a:srgbClr val="56635C"/>
                </a:solidFill>
                <a:effectLst/>
              </a:rPr>
              <a:t>、再到电调和电机的完整执行路径。</a:t>
            </a:r>
          </a:p>
        </p:txBody>
      </p:sp>
    </p:spTree>
    <p:extLst>
      <p:ext uri="{BB962C8B-B14F-4D97-AF65-F5344CB8AC3E}">
        <p14:creationId xmlns:p14="http://schemas.microsoft.com/office/powerpoint/2010/main" val="215303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8B15B-880C-A063-56A2-7CF1565B5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1F586B5-E134-A7FA-F39D-D1AA2BD3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自主跟随控制策略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BF0FBD-9316-979B-507E-62793C148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265209"/>
            <a:ext cx="11029615" cy="127095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自主跟随任务被拆分为多个清晰状态，每个状态只处理一个目标。状态机将视觉误差转换为速度或位置目标，飞控则负责将目标转化为稳定姿态与电机输出。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03018CD-18E3-8B90-BD30-42A539C9C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87796"/>
              </p:ext>
            </p:extLst>
          </p:nvPr>
        </p:nvGraphicFramePr>
        <p:xfrm>
          <a:off x="434196" y="3126001"/>
          <a:ext cx="11323607" cy="2391666"/>
        </p:xfrm>
        <a:graphic>
          <a:graphicData uri="http://schemas.openxmlformats.org/drawingml/2006/table">
            <a:tbl>
              <a:tblPr/>
              <a:tblGrid>
                <a:gridCol w="1575263">
                  <a:extLst>
                    <a:ext uri="{9D8B030D-6E8A-4147-A177-3AD203B41FA5}">
                      <a16:colId xmlns:a16="http://schemas.microsoft.com/office/drawing/2014/main" val="725391126"/>
                    </a:ext>
                  </a:extLst>
                </a:gridCol>
                <a:gridCol w="3790547">
                  <a:extLst>
                    <a:ext uri="{9D8B030D-6E8A-4147-A177-3AD203B41FA5}">
                      <a16:colId xmlns:a16="http://schemas.microsoft.com/office/drawing/2014/main" val="2495685842"/>
                    </a:ext>
                  </a:extLst>
                </a:gridCol>
                <a:gridCol w="3180811">
                  <a:extLst>
                    <a:ext uri="{9D8B030D-6E8A-4147-A177-3AD203B41FA5}">
                      <a16:colId xmlns:a16="http://schemas.microsoft.com/office/drawing/2014/main" val="1284904903"/>
                    </a:ext>
                  </a:extLst>
                </a:gridCol>
                <a:gridCol w="2776986">
                  <a:extLst>
                    <a:ext uri="{9D8B030D-6E8A-4147-A177-3AD203B41FA5}">
                      <a16:colId xmlns:a16="http://schemas.microsoft.com/office/drawing/2014/main" val="2434055418"/>
                    </a:ext>
                  </a:extLst>
                </a:gridCol>
              </a:tblGrid>
              <a:tr h="21175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cap="all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状态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cap="all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输入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cap="all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控制目标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cap="all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退出条件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38961"/>
                  </a:ext>
                </a:extLst>
              </a:tr>
              <a:tr h="48401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IDLE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飞控连接状态、传感器状态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等待任务启动，保持安全状态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通信与传感器数据稳定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306009"/>
                  </a:ext>
                </a:extLst>
              </a:tr>
              <a:tr h="48401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SEARCH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相机图像、</a:t>
                      </a:r>
                      <a:r>
                        <a:rPr lang="en-US" altLang="zh-CN" sz="1600" dirty="0" err="1">
                          <a:effectLst/>
                        </a:rPr>
                        <a:t>ArUco</a:t>
                      </a:r>
                      <a:r>
                        <a:rPr lang="en-US" altLang="zh-CN" sz="1600" dirty="0">
                          <a:effectLst/>
                        </a:rPr>
                        <a:t> </a:t>
                      </a:r>
                      <a:r>
                        <a:rPr lang="zh-CN" altLang="en-US" sz="1600" dirty="0">
                          <a:effectLst/>
                        </a:rPr>
                        <a:t>检测结果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搜索标记并建立目标位姿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连续多帧识别到有效标记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489915"/>
                  </a:ext>
                </a:extLst>
              </a:tr>
              <a:tr h="62014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ALIGN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横向误差、纵向误差、距离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修正 </a:t>
                      </a:r>
                      <a:r>
                        <a:rPr lang="en-US" sz="1600" dirty="0">
                          <a:effectLst/>
                        </a:rPr>
                        <a:t>lateral / vertical / yaw，</a:t>
                      </a:r>
                      <a:r>
                        <a:rPr lang="zh-CN" altLang="en-US" sz="1600" dirty="0">
                          <a:effectLst/>
                        </a:rPr>
                        <a:t>使无人机对准标记中心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对准误差小于设定阈值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758715"/>
                  </a:ext>
                </a:extLst>
              </a:tr>
              <a:tr h="48401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dirty="0">
                          <a:solidFill>
                            <a:srgbClr val="660874"/>
                          </a:solidFill>
                          <a:effectLst/>
                          <a:latin typeface="SF Mono"/>
                        </a:rPr>
                        <a:t>LAND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自动降落指令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自动降落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落地并解除任务</a:t>
                      </a:r>
                    </a:p>
                  </a:txBody>
                  <a:tcPr marL="37814" marR="37814" marT="37814" marB="37814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F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51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23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80B7F-D55C-F8BF-3BD3-479C69B82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4A46511-DE98-E5D2-A99E-313F96D6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自主跟随控制策略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4A5EF0-F658-1EBB-23BB-FAB793B7B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405832"/>
            <a:ext cx="11029615" cy="223711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控制律设计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在对准阶段，视觉位姿提供标记中心相对无人机的偏差，控制器将偏差映射为机体系速度目标。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为保证稳定，前向速度随对准误差变化：误差大时优先横向修正，误差小时再逐步前进。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E344D2-FC06-DBB7-078F-B89F8C6B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5" y="3861485"/>
            <a:ext cx="6987048" cy="153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56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63A62-1514-4035-95D0-EECF21A4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69188CA-8045-8528-FBB8-7679D80B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 err="1"/>
              <a:t>TFmini</a:t>
            </a:r>
            <a:r>
              <a:rPr kumimoji="1" lang="zh-CN" altLang="en-US" sz="3200" dirty="0"/>
              <a:t> 与光流的融合定位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E12060-2DA6-7A68-7F5C-C38B1A8AE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405832"/>
            <a:ext cx="11029615" cy="135462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室内环境没有 </a:t>
            </a:r>
            <a:r>
              <a:rPr lang="en-US" altLang="zh-CN" dirty="0"/>
              <a:t>GPS</a:t>
            </a:r>
            <a:r>
              <a:rPr lang="zh-CN" altLang="en-US" dirty="0"/>
              <a:t>，单靠 </a:t>
            </a:r>
            <a:r>
              <a:rPr lang="en-US" altLang="zh-CN" dirty="0"/>
              <a:t>IMU </a:t>
            </a:r>
            <a:r>
              <a:rPr lang="zh-CN" altLang="en-US" dirty="0"/>
              <a:t>会产生位置漂移。系统使用 </a:t>
            </a:r>
            <a:r>
              <a:rPr lang="en-US" altLang="zh-CN" dirty="0" err="1"/>
              <a:t>TFmini</a:t>
            </a:r>
            <a:r>
              <a:rPr lang="en-US" altLang="zh-CN" dirty="0"/>
              <a:t> </a:t>
            </a:r>
            <a:r>
              <a:rPr lang="zh-CN" altLang="en-US" dirty="0"/>
              <a:t>作为向下高度计，使用光流估计水平相对运动，使飞控获得低空悬停和慢速移动所需的状态量。</a:t>
            </a:r>
            <a:endParaRPr lang="en-US" altLang="zh-CN" dirty="0"/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A0B5E24B-41D6-7CA0-8E73-D7717C4299EA}"/>
              </a:ext>
            </a:extLst>
          </p:cNvPr>
          <p:cNvSpPr txBox="1">
            <a:spLocks/>
          </p:cNvSpPr>
          <p:nvPr/>
        </p:nvSpPr>
        <p:spPr>
          <a:xfrm>
            <a:off x="581195" y="2760454"/>
            <a:ext cx="5514806" cy="25134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CN" b="1" dirty="0" err="1">
                <a:solidFill>
                  <a:srgbClr val="660874"/>
                </a:solidFill>
              </a:rPr>
              <a:t>TFmini</a:t>
            </a:r>
            <a:r>
              <a:rPr lang="zh-CN" altLang="en-US" b="1" dirty="0">
                <a:solidFill>
                  <a:srgbClr val="660874"/>
                </a:solidFill>
              </a:rPr>
              <a:t>：定高度</a:t>
            </a:r>
            <a:endParaRPr lang="en-US" altLang="zh-CN" b="1" dirty="0">
              <a:solidFill>
                <a:srgbClr val="660874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 err="1"/>
              <a:t>TFmini</a:t>
            </a:r>
            <a:r>
              <a:rPr lang="en-US" altLang="zh-CN" dirty="0"/>
              <a:t> </a:t>
            </a:r>
            <a:r>
              <a:rPr lang="zh-CN" altLang="en-US" dirty="0"/>
              <a:t>安装在机体下方，持续输出离地距离。该数据用于飞行过程中的高度保持，以及降落阶段的接地判断。</a:t>
            </a:r>
            <a:endParaRPr lang="en-US" altLang="zh-CN" dirty="0"/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EE6F7522-4497-33BF-FC08-254DFEE166F1}"/>
              </a:ext>
            </a:extLst>
          </p:cNvPr>
          <p:cNvSpPr txBox="1">
            <a:spLocks/>
          </p:cNvSpPr>
          <p:nvPr/>
        </p:nvSpPr>
        <p:spPr>
          <a:xfrm>
            <a:off x="6095999" y="2760453"/>
            <a:ext cx="5514806" cy="2513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660874"/>
                </a:solidFill>
              </a:rPr>
              <a:t>光流：抗漂移</a:t>
            </a:r>
            <a:endParaRPr lang="en-US" altLang="zh-CN" b="1" dirty="0">
              <a:solidFill>
                <a:srgbClr val="660874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光流模块通过地面纹理变化估计横向运动，与高度数据结合后可换算为实际水平速度。飞控利用该速度抑制横向漂移，使无人机在对准阶段保持稳定。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701C7C-9ED8-9AF6-5973-BF8BE2EF9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4" y="5273890"/>
            <a:ext cx="5351464" cy="9274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185FBF7-2311-093C-DB81-3D0B8F85F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5" y="5227960"/>
            <a:ext cx="5481239" cy="97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13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3376-70EB-795C-11C5-631242EA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99231DE-238F-B3F3-CFB2-B4BA154E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系统总体效果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5BB044-A4E0-11F9-2473-5A4DE39C0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405832"/>
            <a:ext cx="11029615" cy="135462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本项目形成了一套面向室内自主跟随任务的完整技术方案。系统将视觉识别、机载计算、飞控通信、低空定位和任务状态机串联起来，具备进一步扩展到更复杂自主飞行任务的基础。</a:t>
            </a:r>
            <a:endParaRPr lang="en-US" altLang="zh-CN" dirty="0"/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1940E86B-8060-7B85-9F4C-FB9D388DEDBB}"/>
              </a:ext>
            </a:extLst>
          </p:cNvPr>
          <p:cNvSpPr txBox="1">
            <a:spLocks/>
          </p:cNvSpPr>
          <p:nvPr/>
        </p:nvSpPr>
        <p:spPr>
          <a:xfrm>
            <a:off x="581196" y="2637081"/>
            <a:ext cx="3082156" cy="25134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zh-CN" altLang="en-US" b="1" dirty="0">
                <a:solidFill>
                  <a:srgbClr val="660874"/>
                </a:solidFill>
              </a:rPr>
              <a:t>飞控通信链路闭合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Nano </a:t>
            </a:r>
            <a:r>
              <a:rPr lang="zh-CN" altLang="en-US" dirty="0"/>
              <a:t>能够读取 </a:t>
            </a:r>
            <a:r>
              <a:rPr lang="en-US" altLang="zh-CN" dirty="0"/>
              <a:t>Pixhawk </a:t>
            </a:r>
            <a:r>
              <a:rPr lang="zh-CN" altLang="en-US" dirty="0"/>
              <a:t>状态，并通过 </a:t>
            </a:r>
            <a:r>
              <a:rPr lang="en-US" altLang="zh-CN" dirty="0" err="1"/>
              <a:t>MAVLink</a:t>
            </a:r>
            <a:r>
              <a:rPr lang="en-US" altLang="zh-CN" dirty="0"/>
              <a:t> </a:t>
            </a:r>
            <a:r>
              <a:rPr lang="zh-CN" altLang="en-US" dirty="0"/>
              <a:t>向飞控发送可执行指令</a:t>
            </a:r>
          </a:p>
          <a:p>
            <a:pPr>
              <a:lnSpc>
                <a:spcPct val="200000"/>
              </a:lnSpc>
            </a:pPr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B941D312-D57B-04C7-321D-6EA4B8B14F1E}"/>
              </a:ext>
            </a:extLst>
          </p:cNvPr>
          <p:cNvSpPr txBox="1">
            <a:spLocks/>
          </p:cNvSpPr>
          <p:nvPr/>
        </p:nvSpPr>
        <p:spPr>
          <a:xfrm>
            <a:off x="4388322" y="2637080"/>
            <a:ext cx="3082156" cy="25134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zh-CN" altLang="en-US" b="1" dirty="0">
                <a:solidFill>
                  <a:srgbClr val="660874"/>
                </a:solidFill>
              </a:rPr>
              <a:t>视觉位姿链路闭合</a:t>
            </a:r>
            <a:endParaRPr lang="en-US" altLang="zh-CN" b="1" dirty="0">
              <a:solidFill>
                <a:srgbClr val="660874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OpenCV </a:t>
            </a:r>
            <a:r>
              <a:rPr lang="en-US" altLang="zh-CN" dirty="0" err="1"/>
              <a:t>ArUco</a:t>
            </a:r>
            <a:r>
              <a:rPr lang="en-US" altLang="zh-CN" dirty="0"/>
              <a:t> </a:t>
            </a:r>
            <a:r>
              <a:rPr lang="zh-CN" altLang="en-US" dirty="0"/>
              <a:t>检测可输出标记相对无人机的三维位置和方向</a:t>
            </a:r>
            <a:endParaRPr lang="en-US" altLang="zh-CN" dirty="0"/>
          </a:p>
        </p:txBody>
      </p:sp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F842590B-797C-B54D-085A-B817CD29D6F4}"/>
              </a:ext>
            </a:extLst>
          </p:cNvPr>
          <p:cNvSpPr txBox="1">
            <a:spLocks/>
          </p:cNvSpPr>
          <p:nvPr/>
        </p:nvSpPr>
        <p:spPr>
          <a:xfrm>
            <a:off x="8425487" y="2634478"/>
            <a:ext cx="3082156" cy="25134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zh-CN" altLang="en-US" b="1" dirty="0">
                <a:solidFill>
                  <a:srgbClr val="660874"/>
                </a:solidFill>
              </a:rPr>
              <a:t>任务控制链路闭合</a:t>
            </a:r>
            <a:endParaRPr lang="en-US" altLang="zh-CN" b="1" dirty="0">
              <a:solidFill>
                <a:srgbClr val="660874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dirty="0"/>
              <a:t>状态机将感知结果转换为对准、前进、悬停和降落等连续动作</a:t>
            </a:r>
            <a:endParaRPr lang="en-US" altLang="zh-CN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AF9911A1-10BE-C392-FBB2-2AAB9BEB1A5D}"/>
              </a:ext>
            </a:extLst>
          </p:cNvPr>
          <p:cNvSpPr txBox="1">
            <a:spLocks/>
          </p:cNvSpPr>
          <p:nvPr/>
        </p:nvSpPr>
        <p:spPr>
          <a:xfrm>
            <a:off x="581189" y="5120941"/>
            <a:ext cx="11029615" cy="13546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dirty="0"/>
              <a:t>自主跟随任务被拆解为“看见目标、估计位姿、稳定悬停、自动降落”的闭环系统。该方案具备明确的工程分层、可解释的算法链路和可迁移的仿真验证流程。</a:t>
            </a:r>
            <a:endParaRPr lang="en-US" altLang="zh-CN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895B261-C811-898F-48CB-0A66BD03CCBB}"/>
              </a:ext>
            </a:extLst>
          </p:cNvPr>
          <p:cNvCxnSpPr/>
          <p:nvPr/>
        </p:nvCxnSpPr>
        <p:spPr>
          <a:xfrm>
            <a:off x="581196" y="2688839"/>
            <a:ext cx="110296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DEC20FE-FEC9-7A39-734A-1BB6865BFF78}"/>
              </a:ext>
            </a:extLst>
          </p:cNvPr>
          <p:cNvCxnSpPr/>
          <p:nvPr/>
        </p:nvCxnSpPr>
        <p:spPr>
          <a:xfrm>
            <a:off x="581189" y="5199126"/>
            <a:ext cx="110296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33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3C92-D22B-0279-77AC-AA487C0FE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A2AF351-D1DC-49C0-68D5-222A9409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测试过程照片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E3AF6B8-3804-66F7-74BC-B5850F786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582" y="2341601"/>
            <a:ext cx="4062422" cy="30468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EC7ADDD-424C-6317-03F1-A1CEF27ED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074" y="2341600"/>
            <a:ext cx="6742956" cy="304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82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感谢各位老师和同学！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小组成员：</a:t>
            </a:r>
            <a:r>
              <a:rPr lang="zh-CN" altLang="en-US" dirty="0"/>
              <a:t>禹皓元、蒲仁智、</a:t>
            </a:r>
            <a:r>
              <a:rPr lang="zh-CN" altLang="en-US" dirty="0">
                <a:solidFill>
                  <a:srgbClr val="9A0000"/>
                </a:solidFill>
              </a:rPr>
              <a:t>唐晨成、梁清尧</a:t>
            </a:r>
            <a:endParaRPr lang="en-US" altLang="zh-CN" dirty="0">
              <a:solidFill>
                <a:srgbClr val="9A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2026</a:t>
            </a:r>
            <a:r>
              <a:rPr lang="zh-CN" altLang="en-US" dirty="0">
                <a:solidFill>
                  <a:schemeClr val="tx1"/>
                </a:solidFill>
              </a:rPr>
              <a:t>年</a:t>
            </a:r>
            <a:r>
              <a:rPr lang="en-US" altLang="zh-CN" dirty="0">
                <a:solidFill>
                  <a:schemeClr val="tx1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月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842825-EC29-B62A-795A-674410AB06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946" y="383943"/>
            <a:ext cx="2577503" cy="72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4141</TotalTime>
  <Words>1071</Words>
  <Application>Microsoft Office PowerPoint</Application>
  <PresentationFormat>宽屏</PresentationFormat>
  <Paragraphs>132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SF Mono</vt:lpstr>
      <vt:lpstr>等线</vt:lpstr>
      <vt:lpstr>Consolas</vt:lpstr>
      <vt:lpstr>Gill Sans MT</vt:lpstr>
      <vt:lpstr>Wingdings 2</vt:lpstr>
      <vt:lpstr>清华简约主题-顶边-16:9</vt:lpstr>
      <vt:lpstr>四旋翼无人机自主跟随系统 《制造工程体验》课程汇报</vt:lpstr>
      <vt:lpstr>项目目标</vt:lpstr>
      <vt:lpstr>硬件与软件架构</vt:lpstr>
      <vt:lpstr>硬件与软件架构</vt:lpstr>
      <vt:lpstr>硬件与软件架构</vt:lpstr>
      <vt:lpstr>ArUco 标记位姿估计</vt:lpstr>
      <vt:lpstr>飞控通信与动力链路</vt:lpstr>
      <vt:lpstr>自主跟随控制策略</vt:lpstr>
      <vt:lpstr>自主跟随控制策略</vt:lpstr>
      <vt:lpstr>TFmini 与光流的融合定位</vt:lpstr>
      <vt:lpstr>系统总体效果</vt:lpstr>
      <vt:lpstr>测试过程照片</vt:lpstr>
      <vt:lpstr>感谢各位老师和同学！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Qingyao Liang</cp:lastModifiedBy>
  <cp:revision>1281</cp:revision>
  <cp:lastPrinted>2020-04-04T02:50:47Z</cp:lastPrinted>
  <dcterms:created xsi:type="dcterms:W3CDTF">2020-01-04T07:43:38Z</dcterms:created>
  <dcterms:modified xsi:type="dcterms:W3CDTF">2026-06-01T16:25:29Z</dcterms:modified>
</cp:coreProperties>
</file>